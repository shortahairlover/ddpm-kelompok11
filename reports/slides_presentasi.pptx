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22222E"/>
                </a:solidFill>
              </a:rPr>
              <a:t>FID vs guidance (E1 epoch 100)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FID</c:v>
                </c:pt>
              </c:strCache>
            </c:strRef>
          </c:tx>
          <c:spPr>
            <a:ln w="31750">
              <a:solidFill>
                <a:srgbClr val="F25F5C"/>
              </a:solidFill>
            </a:ln>
          </c:spPr>
          <c:cat>
            <c:strRef>
              <c:f>Sheet1!$A$2:$A$6</c:f>
              <c:strCache>
                <c:ptCount val="5"/>
                <c:pt idx="0">
                  <c:v>w = 0</c:v>
                </c:pt>
                <c:pt idx="1">
                  <c:v>w = 1</c:v>
                </c:pt>
                <c:pt idx="2">
                  <c:v>w = 2</c:v>
                </c:pt>
                <c:pt idx="3">
                  <c:v>w = 3</c:v>
                </c:pt>
                <c:pt idx="4">
                  <c:v>w =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26.52</c:v>
                </c:pt>
                <c:pt idx="1">
                  <c:v>22.7</c:v>
                </c:pt>
                <c:pt idx="2">
                  <c:v>16.43</c:v>
                </c:pt>
                <c:pt idx="3">
                  <c:v>18.01</c:v>
                </c:pt>
                <c:pt idx="4">
                  <c:v>26.3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sz="1100">
                  <a:solidFill>
                    <a:srgbClr val="22222E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AD6"/>
            </a:solidFill>
          </a:ln>
        </c:spPr>
        <c:txPr>
          <a:bodyPr/>
          <a:lstStyle/>
          <a:p>
            <a:pPr>
              <a:defRPr sz="1200">
                <a:solidFill>
                  <a:srgbClr val="5F637A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30.0"/>
          <c:min val="10.0"/>
        </c:scaling>
        <c:delete val="0"/>
        <c:axPos val="l"/>
        <c:majorGridlines>
          <c:spPr>
            <a:ln>
              <a:solidFill>
                <a:srgbClr val="E3E4EC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C8CAD6"/>
            </a:solidFill>
          </a:ln>
        </c:spPr>
        <c:txPr>
          <a:bodyPr/>
          <a:lstStyle/>
          <a:p>
            <a:pPr>
              <a:defRPr sz="1200">
                <a:solidFill>
                  <a:srgbClr val="5F637A"/>
                </a:solidFill>
              </a:defRPr>
            </a:pPr>
          </a:p>
        </c:txPr>
        <c:crossAx val="2118791784"/>
        <c:crosses val="autoZero"/>
        <c:majorUnit val="5.0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22222E"/>
                </a:solidFill>
              </a:rPr>
              <a:t>FID pada epoch 30 (w = 3, 5.000 sampel)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FID</c:v>
                </c:pt>
              </c:strCache>
            </c:strRef>
          </c:tx>
          <c:dPt>
            <c:idx val="0"/>
            <c:spPr>
              <a:solidFill>
                <a:srgbClr val="2D335E"/>
              </a:solidFill>
            </c:spPr>
          </c:dPt>
          <c:dPt>
            <c:idx val="1"/>
            <c:spPr>
              <a:solidFill>
                <a:srgbClr val="2D335E"/>
              </a:solidFill>
            </c:spPr>
          </c:dPt>
          <c:dPt>
            <c:idx val="2"/>
            <c:spPr>
              <a:solidFill>
                <a:srgbClr val="2D335E"/>
              </a:solidFill>
            </c:spPr>
          </c:dPt>
          <c:dPt>
            <c:idx val="3"/>
            <c:spPr>
              <a:solidFill>
                <a:srgbClr val="F25F5C"/>
              </a:solidFill>
            </c:spPr>
          </c:dPt>
          <c:dPt>
            <c:idx val="4"/>
            <c:spPr>
              <a:solidFill>
                <a:srgbClr val="2D335E"/>
              </a:solidFill>
            </c:spPr>
          </c:dPt>
          <c:cat>
            <c:strRef>
              <c:f>Sheet1!$A$2:$A$6</c:f>
              <c:strCache>
                <c:ptCount val="5"/>
                <c:pt idx="0">
                  <c:v>E1 baseline</c:v>
                </c:pt>
                <c:pt idx="1">
                  <c:v>E2 lr 1e-4</c:v>
                </c:pt>
                <c:pt idx="2">
                  <c:v>E3 lr 4e-4</c:v>
                </c:pt>
                <c:pt idx="3">
                  <c:v>E4 batch 64</c:v>
                </c:pt>
                <c:pt idx="4">
                  <c:v>E5 cosine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31.0</c:v>
                </c:pt>
                <c:pt idx="1">
                  <c:v>34.08</c:v>
                </c:pt>
                <c:pt idx="2">
                  <c:v>35.0</c:v>
                </c:pt>
                <c:pt idx="3">
                  <c:v>23.37</c:v>
                </c:pt>
                <c:pt idx="4">
                  <c:v>45.26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200">
                  <a:solidFill>
                    <a:srgbClr val="22222E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AD6"/>
            </a:solidFill>
          </a:ln>
        </c:spPr>
        <c:txPr>
          <a:bodyPr/>
          <a:lstStyle/>
          <a:p>
            <a:pPr>
              <a:defRPr sz="1200">
                <a:solidFill>
                  <a:srgbClr val="5F637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4EC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C8CAD6"/>
            </a:solidFill>
          </a:ln>
        </c:spPr>
        <c:txPr>
          <a:bodyPr/>
          <a:lstStyle/>
          <a:p>
            <a:pPr>
              <a:defRPr sz="1200">
                <a:solidFill>
                  <a:srgbClr val="5F637A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Pembuka (Naufal). Kami membangun model difusi kecil yang bisa membuat gambar sesuai kelas yang diminta. Gambar di kanan adalah hasil model kami: satu baris per kelas CIFAR-10.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Ringkasan sebelum detail. FID 16,43 dihitung dengan 5.000 sampel; angka ini untuk perbandingan internal, bukan dibandingkan langsung dengan paper (FID 50k).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Kenapa memprediksi noise, bukan gambar? Targetnya selalu N(0,1) di setiap t, sehingga skala loss stabil dan training mudah. Data dinormalisasi ke [-1, 1] agar sejajar dengan skala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Fungsi timestep embedding: memberi tahu jaringan seberapa banyak noise di input. Embedding kelas punya satu token ekstra 'null' untuk classifier-free guidance.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Satu model yang sama belajar versi kondisional dan tanpa kondisi. Saat sampling kami menggabungkan keduanya. Nilai FID: w=0: 26,52, w=1: 22,70, w=2: 16,43, w=3: 18,01, w=5: 26,30.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Kenapa [-1, 1]? Agar skala data sama dengan noise Gaussian dan agar clamp x0 di sampling punya batas yang jelas.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Kenapa EMA? Rata-rata bobot dari banyak step meredam fluktuasi optimizer sehingga sampel lebih bersih (lihat perbandingan EMA vs non-EMA di laporan).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Semua eksperimen dibandingkan pada epoch yang sama dengan seed yang sama. Satu variabel per eksperimen (config mewarisi baseline). Nilai FID: E1: 31,00, E2: 34,08, E3: 35,00, E4: 23,37, E5: 45,26.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Gambar per kelas dari model EMA. Detail halus masih buram — wajar untuk model 9 juta parameter di resolusi 32×32.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Gambar kanan: EMA vs non-EMA pada w = 3 — EMA lebih halus. DDIM dan DDPM memberi FID yang praktis sama pada 2.000 sampel.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Rubrik: kualitas vibe coding 30 %, log interaksi 25 %. Setiap fase punya branch, laporan audit di folder audits/, dan Pull Request di GitHub.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Setiap anggota mempresentasikan bagiannya sendiri (penguasaan materi individu).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Buka reports/figures/denoise_cifar10.gif di browser untuk menunjukkan animasinya. Demo memakai checkpoint terbaik (E1 epoch 100).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Terima kasih — sesi tanya jawab.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2296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25F5C"/>
                </a:solidFill>
                <a:latin typeface="Calibri"/>
              </a:rPr>
              <a:t>PROYEK 1 · CAK4KBB3 2026-1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60350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mbria"/>
              </a:rPr>
              <a:t>Mini DDPM: dari Noise menjadi Gambar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46120"/>
            <a:ext cx="5852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CFD3EA"/>
                </a:solidFill>
                <a:latin typeface="Calibri"/>
              </a:rPr>
              <a:t>Diffusion model class-conditional + classifier-free guidance, dibangun from scratch dengan PyTorch dan Claude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43400"/>
            <a:ext cx="58521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Naufal Rafif Hidayat</a:t>
            </a:r>
            <a:r>
              <a:rPr sz="1500" b="0" i="0">
                <a:solidFill>
                  <a:srgbClr val="AEB3D1"/>
                </a:solidFill>
                <a:latin typeface="Calibri"/>
              </a:rPr>
              <a:t>  103012300403 · Ketua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Ardhian Calwa Nugraha</a:t>
            </a:r>
            <a:r>
              <a:rPr sz="1500" b="0" i="0">
                <a:solidFill>
                  <a:srgbClr val="AEB3D1"/>
                </a:solidFill>
                <a:latin typeface="Calibri"/>
              </a:rPr>
              <a:t>  103012300404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Ali Hizqil Syauqani</a:t>
            </a:r>
            <a:r>
              <a:rPr sz="1500" b="0" i="0">
                <a:solidFill>
                  <a:srgbClr val="AEB3D1"/>
                </a:solidFill>
                <a:latin typeface="Calibri"/>
              </a:rPr>
              <a:t>  103012300036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Muhammad Akhdan Ghifari</a:t>
            </a:r>
            <a:r>
              <a:rPr sz="1500" b="0" i="0">
                <a:solidFill>
                  <a:srgbClr val="AEB3D1"/>
                </a:solidFill>
                <a:latin typeface="Calibri"/>
              </a:rPr>
              <a:t>  103012300148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17220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25F5C"/>
                </a:solidFill>
                <a:latin typeface="Calibri"/>
              </a:rPr>
              <a:t>Kelompok 11</a:t>
            </a:r>
          </a:p>
        </p:txBody>
      </p:sp>
      <p:pic>
        <p:nvPicPr>
          <p:cNvPr id="7" name="Picture 6" descr="cifar10_final_w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3503" y="548640"/>
            <a:ext cx="4615313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25F5C"/>
                </a:solidFill>
                <a:latin typeface="Calibri"/>
              </a:rPr>
              <a:t>HASIL UTAMA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1F3B"/>
                </a:solidFill>
                <a:latin typeface="Cambria"/>
              </a:rPr>
              <a:t>Ringkasan: semua target tercapai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2567863" cy="1920240"/>
          </a:xfrm>
          <a:prstGeom prst="roundRect">
            <a:avLst>
              <a:gd name="adj" fmla="val 8000"/>
            </a:avLst>
          </a:prstGeom>
          <a:solidFill>
            <a:srgbClr val="F1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211066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F25F5C"/>
                </a:solidFill>
                <a:latin typeface="Cambria"/>
              </a:rPr>
              <a:t>16,43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60320"/>
            <a:ext cx="211066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F637A"/>
                </a:solidFill>
                <a:latin typeface="Calibri"/>
              </a:rPr>
              <a:t>FID terbaik CIFAR-10
(lebih kecil lebih baik)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90823" y="1600200"/>
            <a:ext cx="2567863" cy="1920240"/>
          </a:xfrm>
          <a:prstGeom prst="roundRect">
            <a:avLst>
              <a:gd name="adj" fmla="val 8000"/>
            </a:avLst>
          </a:prstGeom>
          <a:solidFill>
            <a:srgbClr val="F1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65143" y="1783080"/>
            <a:ext cx="211066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F25F5C"/>
                </a:solidFill>
                <a:latin typeface="Cambria"/>
              </a:rPr>
              <a:t>8,95 jt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65143" y="2560320"/>
            <a:ext cx="211066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F637A"/>
                </a:solidFill>
                <a:latin typeface="Calibri"/>
              </a:rPr>
              <a:t>parameter U-Net
dilatih di GPU laptop 6 GB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2567863" cy="1920240"/>
          </a:xfrm>
          <a:prstGeom prst="roundRect">
            <a:avLst>
              <a:gd name="adj" fmla="val 8000"/>
            </a:avLst>
          </a:prstGeom>
          <a:solidFill>
            <a:srgbClr val="F1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1783080"/>
            <a:ext cx="211066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F25F5C"/>
                </a:solidFill>
                <a:latin typeface="Cambria"/>
              </a:rPr>
              <a:t>3,8 jam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7" y="2560320"/>
            <a:ext cx="211066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F637A"/>
                </a:solidFill>
                <a:latin typeface="Calibri"/>
              </a:rPr>
              <a:t>training CIFAR-10
100 epoch (39.000 step)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75191" y="1600200"/>
            <a:ext cx="2567863" cy="1920240"/>
          </a:xfrm>
          <a:prstGeom prst="roundRect">
            <a:avLst>
              <a:gd name="adj" fmla="val 8000"/>
            </a:avLst>
          </a:prstGeom>
          <a:solidFill>
            <a:srgbClr val="F1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49511" y="1783080"/>
            <a:ext cx="211066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F25F5C"/>
                </a:solidFill>
                <a:latin typeface="Cambria"/>
              </a:rPr>
              <a:t>9 fase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49511" y="2560320"/>
            <a:ext cx="211066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F637A"/>
                </a:solidFill>
                <a:latin typeface="Calibri"/>
              </a:rPr>
              <a:t>branch + audit + PR
sebelum setiap merge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977639"/>
            <a:ext cx="109728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01168">
              <a:spcAft>
                <a:spcPts val="800"/>
              </a:spcAft>
              <a:buFont typeface="Arial"/>
              <a:buChar char="•"/>
            </a:pPr>
            <a:r>
              <a:rPr sz="1700" b="1">
                <a:solidFill>
                  <a:srgbClr val="22222E"/>
                </a:solidFill>
                <a:latin typeface="Calibri"/>
              </a:rPr>
              <a:t>MNIST: </a:t>
            </a:r>
            <a:r>
              <a:rPr sz="1700" b="0">
                <a:solidFill>
                  <a:srgbClr val="22222E"/>
                </a:solidFill>
                <a:latin typeface="Calibri"/>
              </a:rPr>
              <a:t>angka 0–9 tergenerate sesuai label (sanity check lolos).</a:t>
            </a:r>
          </a:p>
          <a:p>
            <a:pPr marL="256032" indent="-201168">
              <a:spcAft>
                <a:spcPts val="800"/>
              </a:spcAft>
              <a:buFont typeface="Arial"/>
              <a:buChar char="•"/>
            </a:pPr>
            <a:r>
              <a:rPr sz="1700" b="1">
                <a:solidFill>
                  <a:srgbClr val="22222E"/>
                </a:solidFill>
                <a:latin typeface="Calibri"/>
              </a:rPr>
              <a:t>CIFAR-10: </a:t>
            </a:r>
            <a:r>
              <a:rPr sz="1700" b="0">
                <a:solidFill>
                  <a:srgbClr val="22222E"/>
                </a:solidFill>
                <a:latin typeface="Calibri"/>
              </a:rPr>
              <a:t>10 kelas dikenali jelas; guidance w = 2 memberi kualitas terbaik.</a:t>
            </a:r>
          </a:p>
          <a:p>
            <a:pPr marL="256032" indent="-201168">
              <a:spcAft>
                <a:spcPts val="800"/>
              </a:spcAft>
              <a:buFont typeface="Arial"/>
              <a:buChar char="•"/>
            </a:pPr>
            <a:r>
              <a:rPr sz="1700" b="1">
                <a:solidFill>
                  <a:srgbClr val="22222E"/>
                </a:solidFill>
                <a:latin typeface="Calibri"/>
              </a:rPr>
              <a:t>Eksperimen: </a:t>
            </a:r>
            <a:r>
              <a:rPr sz="1700" b="0">
                <a:solidFill>
                  <a:srgbClr val="22222E"/>
                </a:solidFill>
                <a:latin typeface="Calibri"/>
              </a:rPr>
              <a:t>lr, batch size, noise schedule, guidance, EMA, dan sampler dibandingkan dengan FID.</a:t>
            </a:r>
          </a:p>
          <a:p>
            <a:pPr marL="256032" indent="-201168">
              <a:spcAft>
                <a:spcPts val="800"/>
              </a:spcAft>
              <a:buFont typeface="Arial"/>
              <a:buChar char="•"/>
            </a:pPr>
            <a:r>
              <a:rPr sz="1700" b="1">
                <a:solidFill>
                  <a:srgbClr val="22222E"/>
                </a:solidFill>
                <a:latin typeface="Calibri"/>
              </a:rPr>
              <a:t>Proses: </a:t>
            </a:r>
            <a:r>
              <a:rPr sz="1700" b="0">
                <a:solidFill>
                  <a:srgbClr val="22222E"/>
                </a:solidFill>
                <a:latin typeface="Calibri"/>
              </a:rPr>
              <a:t>±80 task terlacak, 9 laporan audit, Log Interaksi LLM tiap fase.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25F5C"/>
                </a:solidFill>
                <a:latin typeface="Calibri"/>
              </a:rPr>
              <a:t>KONSEP DDPM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1F3B"/>
                </a:solidFill>
                <a:latin typeface="Cambria"/>
              </a:rPr>
              <a:t>Cara kerja: rusak dengan noise, lalu belajar membalik</a:t>
            </a:r>
          </a:p>
        </p:txBody>
      </p:sp>
      <p:pic>
        <p:nvPicPr>
          <p:cNvPr id="4" name="Picture 3" descr="forward_cifar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67226"/>
            <a:ext cx="5669280" cy="37978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66928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5F637A"/>
                </a:solidFill>
                <a:latin typeface="Calibri"/>
              </a:rPr>
              <a:t>Forward process pada t = 0, 100, 250, 500, 750, 999</a:t>
            </a:r>
          </a:p>
        </p:txBody>
      </p:sp>
      <p:sp>
        <p:nvSpPr>
          <p:cNvPr id="6" name="Oval 5"/>
          <p:cNvSpPr/>
          <p:nvPr/>
        </p:nvSpPr>
        <p:spPr>
          <a:xfrm>
            <a:off x="6675120" y="1645920"/>
            <a:ext cx="502920" cy="502920"/>
          </a:xfrm>
          <a:prstGeom prst="ellipse">
            <a:avLst/>
          </a:prstGeom>
          <a:solidFill>
            <a:srgbClr val="F25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1627632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B1F3B"/>
                </a:solidFill>
                <a:latin typeface="Calibri"/>
              </a:rPr>
              <a:t>Forward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029968"/>
            <a:ext cx="4297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2222E"/>
                </a:solidFill>
                <a:latin typeface="Calibri"/>
              </a:rPr>
              <a:t>x_t = √ᾱ_t · x₀ + √(1−ᾱ_t) · ε  — 1000 langkah, β linear 1e-4 → 0,02</a:t>
            </a:r>
          </a:p>
        </p:txBody>
      </p:sp>
      <p:sp>
        <p:nvSpPr>
          <p:cNvPr id="9" name="Oval 8"/>
          <p:cNvSpPr/>
          <p:nvPr/>
        </p:nvSpPr>
        <p:spPr>
          <a:xfrm>
            <a:off x="6675120" y="3063240"/>
            <a:ext cx="502920" cy="502920"/>
          </a:xfrm>
          <a:prstGeom prst="ellipse">
            <a:avLst/>
          </a:prstGeom>
          <a:solidFill>
            <a:srgbClr val="F25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044952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B1F3B"/>
                </a:solidFill>
                <a:latin typeface="Calibri"/>
              </a:rPr>
              <a:t>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3447288"/>
            <a:ext cx="4297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2222E"/>
                </a:solidFill>
                <a:latin typeface="Calibri"/>
              </a:rPr>
              <a:t>U-Net menebak noise ε yang ditambahkan; loss = MSE(ε, ε̂)</a:t>
            </a:r>
          </a:p>
        </p:txBody>
      </p:sp>
      <p:sp>
        <p:nvSpPr>
          <p:cNvPr id="12" name="Oval 11"/>
          <p:cNvSpPr/>
          <p:nvPr/>
        </p:nvSpPr>
        <p:spPr>
          <a:xfrm>
            <a:off x="6675120" y="4480560"/>
            <a:ext cx="502920" cy="502920"/>
          </a:xfrm>
          <a:prstGeom prst="ellipse">
            <a:avLst/>
          </a:prstGeom>
          <a:solidFill>
            <a:srgbClr val="F25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4462272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B1F3B"/>
                </a:solidFill>
                <a:latin typeface="Calibri"/>
              </a:rPr>
              <a:t>Sampling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864608"/>
            <a:ext cx="4297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2222E"/>
                </a:solidFill>
                <a:latin typeface="Calibri"/>
              </a:rPr>
              <a:t>Mulai dari noise murni, hapus noise 1000 langkah (DDPM) atau 100 langkah (DDIM)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25F5C"/>
                </a:solidFill>
                <a:latin typeface="Calibri"/>
              </a:rPr>
              <a:t>MODEL (PROMPT ENGINEER)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1F3B"/>
                </a:solidFill>
                <a:latin typeface="Cambria"/>
              </a:rPr>
              <a:t>Arsitektur U-Net dengan embedding waktu dan kelas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5751" y="1783080"/>
            <a:ext cx="1828800" cy="1143000"/>
          </a:xfrm>
          <a:prstGeom prst="roundRect">
            <a:avLst>
              <a:gd name="adj" fmla="val 8000"/>
            </a:avLst>
          </a:prstGeom>
          <a:solidFill>
            <a:srgbClr val="2D3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x_t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3×32×32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84551" y="2354580"/>
            <a:ext cx="384048" cy="0"/>
          </a:xfrm>
          <a:prstGeom prst="line">
            <a:avLst/>
          </a:prstGeom>
          <a:ln w="25400">
            <a:solidFill>
              <a:srgbClr val="5F63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968599" y="1783080"/>
            <a:ext cx="1828800" cy="1143000"/>
          </a:xfrm>
          <a:prstGeom prst="roundRect">
            <a:avLst>
              <a:gd name="adj" fmla="val 8000"/>
            </a:avLst>
          </a:prstGeom>
          <a:solidFill>
            <a:srgbClr val="24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Encoder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32→16→8→4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797399" y="2354580"/>
            <a:ext cx="384048" cy="0"/>
          </a:xfrm>
          <a:prstGeom prst="line">
            <a:avLst/>
          </a:prstGeom>
          <a:ln w="25400">
            <a:solidFill>
              <a:srgbClr val="5F63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181447" y="1783080"/>
            <a:ext cx="1828800" cy="1143000"/>
          </a:xfrm>
          <a:prstGeom prst="roundRect">
            <a:avLst>
              <a:gd name="adj" fmla="val 8000"/>
            </a:avLst>
          </a:prstGeom>
          <a:solidFill>
            <a:srgbClr val="F25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Bottleneck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ResBlock · Attention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010247" y="2354580"/>
            <a:ext cx="384048" cy="0"/>
          </a:xfrm>
          <a:prstGeom prst="line">
            <a:avLst/>
          </a:prstGeom>
          <a:ln w="25400">
            <a:solidFill>
              <a:srgbClr val="5F63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394295" y="1783080"/>
            <a:ext cx="1828800" cy="1143000"/>
          </a:xfrm>
          <a:prstGeom prst="roundRect">
            <a:avLst>
              <a:gd name="adj" fmla="val 8000"/>
            </a:avLst>
          </a:prstGeom>
          <a:solidFill>
            <a:srgbClr val="24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Decoder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4→8→16→32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223095" y="2354580"/>
            <a:ext cx="384048" cy="0"/>
          </a:xfrm>
          <a:prstGeom prst="line">
            <a:avLst/>
          </a:prstGeom>
          <a:ln w="25400">
            <a:solidFill>
              <a:srgbClr val="5F63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607143" y="1783080"/>
            <a:ext cx="1828800" cy="1143000"/>
          </a:xfrm>
          <a:prstGeom prst="roundRect">
            <a:avLst>
              <a:gd name="adj" fmla="val 8000"/>
            </a:avLst>
          </a:prstGeom>
          <a:solidFill>
            <a:srgbClr val="2D3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ε̂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3×32×32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68599" y="3108960"/>
            <a:ext cx="6254496" cy="457200"/>
          </a:xfrm>
          <a:prstGeom prst="roundRect">
            <a:avLst>
              <a:gd name="adj" fmla="val 8000"/>
            </a:avLst>
          </a:prstGeom>
          <a:solidFill>
            <a:srgbClr val="F1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2222E"/>
                </a:solidFill>
                <a:latin typeface="Calibri"/>
              </a:rPr>
              <a:t>skip connection: fitur encoder digabung ke decoder di resolusi sama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68599" y="3703320"/>
            <a:ext cx="6254496" cy="457200"/>
          </a:xfrm>
          <a:prstGeom prst="roundRect">
            <a:avLst>
              <a:gd name="adj" fmla="val 8000"/>
            </a:avLst>
          </a:prstGeom>
          <a:solidFill>
            <a:srgbClr val="F1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2222E"/>
                </a:solidFill>
                <a:latin typeface="Calibri"/>
              </a:rPr>
              <a:t>emb = MLP(sinusoidal(t)) + Embedding(kelas 0–9, null = 10) → setiap ResBlock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434840"/>
            <a:ext cx="3515258" cy="1920240"/>
          </a:xfrm>
          <a:prstGeom prst="roundRect">
            <a:avLst>
              <a:gd name="adj" fmla="val 8000"/>
            </a:avLst>
          </a:prstGeom>
          <a:solidFill>
            <a:srgbClr val="F1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572000"/>
            <a:ext cx="30580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F25F5C"/>
                </a:solidFill>
                <a:latin typeface="Calibri"/>
              </a:rPr>
              <a:t>ResBlock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983480"/>
            <a:ext cx="3058058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22E"/>
                </a:solidFill>
                <a:latin typeface="Calibri"/>
              </a:rPr>
              <a:t>GroupNorm → SiLU → Conv, embedding ditambahkan per channel; conv akhir di-init nol agar blok mulai sebagai identitas.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38218" y="4434840"/>
            <a:ext cx="3515258" cy="1920240"/>
          </a:xfrm>
          <a:prstGeom prst="roundRect">
            <a:avLst>
              <a:gd name="adj" fmla="val 8000"/>
            </a:avLst>
          </a:prstGeom>
          <a:solidFill>
            <a:srgbClr val="F1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66818" y="4572000"/>
            <a:ext cx="30580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F25F5C"/>
                </a:solidFill>
                <a:latin typeface="Calibri"/>
              </a:rPr>
              <a:t>Self-attention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6818" y="4983480"/>
            <a:ext cx="3058058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22E"/>
                </a:solidFill>
                <a:latin typeface="Calibri"/>
              </a:rPr>
              <a:t>4 head, ditulis manual (einsum + softmax) pada resolusi 16×16 dan bottleneck.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27796" y="4434840"/>
            <a:ext cx="3515258" cy="1920240"/>
          </a:xfrm>
          <a:prstGeom prst="roundRect">
            <a:avLst>
              <a:gd name="adj" fmla="val 8000"/>
            </a:avLst>
          </a:prstGeom>
          <a:solidFill>
            <a:srgbClr val="F1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56396" y="4572000"/>
            <a:ext cx="30580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F25F5C"/>
                </a:solidFill>
                <a:latin typeface="Calibri"/>
              </a:rPr>
              <a:t>Ukuran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6396" y="4983480"/>
            <a:ext cx="3058058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22E"/>
                </a:solidFill>
                <a:latin typeface="Calibri"/>
              </a:rPr>
              <a:t>MNIST: 1,62 jt parameter (base 32).
CIFAR-10: 8,95 jt parameter (base 64, 4 level).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25F5C"/>
                </a:solidFill>
                <a:latin typeface="Calibri"/>
              </a:rPr>
              <a:t>MENGONTROL KELAS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1F3B"/>
                </a:solidFill>
                <a:latin typeface="Cambria"/>
              </a:rPr>
              <a:t>Classifier-free guidance: w = 2 paling seimbang</a:t>
            </a:r>
          </a:p>
        </p:txBody>
      </p:sp>
      <p:pic>
        <p:nvPicPr>
          <p:cNvPr id="4" name="Picture 3" descr="s1_guidance_cifar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82508"/>
            <a:ext cx="11094415" cy="2704263"/>
          </a:xfrm>
          <a:prstGeom prst="rect">
            <a:avLst/>
          </a:prstGeom>
        </p:spPr>
      </p:pic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498079" y="4343400"/>
          <a:ext cx="4160520" cy="2240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480560"/>
            <a:ext cx="6675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B1F3B"/>
                </a:solidFill>
                <a:latin typeface="Cambria"/>
              </a:rPr>
              <a:t>ε = ε_uncond + w · (ε_cond − ε_uncond)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20640"/>
            <a:ext cx="66751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01168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22222E"/>
                </a:solidFill>
                <a:latin typeface="Calibri"/>
              </a:rPr>
              <a:t>Label di-drop 10 % saat training → satu model, dua mode</a:t>
            </a:r>
          </a:p>
          <a:p>
            <a:pPr marL="256032" indent="-201168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22222E"/>
                </a:solidFill>
                <a:latin typeface="Calibri"/>
              </a:rPr>
              <a:t>w = 0 kelas acak · w = 2–3 tegas · w = 5 jenuh, variasi turun</a:t>
            </a:r>
          </a:p>
          <a:p>
            <a:pPr marL="256032" indent="-201168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22222E"/>
                </a:solidFill>
                <a:latin typeface="Calibri"/>
              </a:rPr>
              <a:t>Kurva U = trade-off kualitas–keragaman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25F5C"/>
                </a:solidFill>
                <a:latin typeface="Calibri"/>
              </a:rPr>
              <a:t>DATA (DATA ENGINEER)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1F3B"/>
                </a:solidFill>
                <a:latin typeface="Cambria"/>
              </a:rPr>
              <a:t>Data: MNIST untuk uji, CIFAR-10 untuk hasil utama</a:t>
            </a:r>
          </a:p>
        </p:txBody>
      </p:sp>
      <p:pic>
        <p:nvPicPr>
          <p:cNvPr id="4" name="Picture 3" descr="batch_mn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2651760" cy="2651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29000" y="160020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1F3B"/>
                </a:solidFill>
                <a:latin typeface="Calibri"/>
              </a:rPr>
              <a:t>MNIST · 60.000 gambar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0" y="2148840"/>
            <a:ext cx="26060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01168">
              <a:spcAft>
                <a:spcPts val="800"/>
              </a:spcAft>
              <a:buFont typeface="Arial"/>
              <a:buChar char="•"/>
            </a:pPr>
            <a:r>
              <a:rPr sz="1400" b="0">
                <a:solidFill>
                  <a:srgbClr val="22222E"/>
                </a:solidFill>
                <a:latin typeface="Calibri"/>
              </a:rPr>
              <a:t>28×28 di-pad 2 px → 32×32 (1 channel)</a:t>
            </a:r>
          </a:p>
          <a:p>
            <a:pPr marL="256032" indent="-201168">
              <a:spcAft>
                <a:spcPts val="800"/>
              </a:spcAft>
              <a:buFont typeface="Arial"/>
              <a:buChar char="•"/>
            </a:pPr>
            <a:r>
              <a:rPr sz="1400" b="0">
                <a:solidFill>
                  <a:srgbClr val="22222E"/>
                </a:solidFill>
                <a:latin typeface="Calibri"/>
              </a:rPr>
              <a:t>Tanpa flip: angka bisa berubah makna</a:t>
            </a:r>
          </a:p>
        </p:txBody>
      </p:sp>
      <p:pic>
        <p:nvPicPr>
          <p:cNvPr id="7" name="Picture 6" descr="batch_cifar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54480"/>
            <a:ext cx="2651760" cy="2651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098280" y="160020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1F3B"/>
                </a:solidFill>
                <a:latin typeface="Calibri"/>
              </a:rPr>
              <a:t>CIFAR-10 · 50.000 gambar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8280" y="2148840"/>
            <a:ext cx="26060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01168">
              <a:spcAft>
                <a:spcPts val="800"/>
              </a:spcAft>
              <a:buFont typeface="Arial"/>
              <a:buChar char="•"/>
            </a:pPr>
            <a:r>
              <a:rPr sz="1400" b="0">
                <a:solidFill>
                  <a:srgbClr val="22222E"/>
                </a:solidFill>
                <a:latin typeface="Calibri"/>
              </a:rPr>
              <a:t>32×32 RGB, 10 kelas</a:t>
            </a:r>
          </a:p>
          <a:p>
            <a:pPr marL="256032" indent="-201168">
              <a:spcAft>
                <a:spcPts val="800"/>
              </a:spcAft>
              <a:buFont typeface="Arial"/>
              <a:buChar char="•"/>
            </a:pPr>
            <a:r>
              <a:rPr sz="1400" b="0">
                <a:solidFill>
                  <a:srgbClr val="22222E"/>
                </a:solidFill>
                <a:latin typeface="Calibri"/>
              </a:rPr>
              <a:t>Random horizontal flip saat training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617720"/>
            <a:ext cx="11094415" cy="1691640"/>
          </a:xfrm>
          <a:prstGeom prst="roundRect">
            <a:avLst>
              <a:gd name="adj" fmla="val 8000"/>
            </a:avLst>
          </a:prstGeom>
          <a:solidFill>
            <a:srgbClr val="F1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800600"/>
            <a:ext cx="1054577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01168">
              <a:spcAft>
                <a:spcPts val="800"/>
              </a:spcAft>
              <a:buFont typeface="Arial"/>
              <a:buChar char="•"/>
            </a:pPr>
            <a:r>
              <a:rPr sz="1500" b="1">
                <a:solidFill>
                  <a:srgbClr val="22222E"/>
                </a:solidFill>
                <a:latin typeface="Calibri"/>
              </a:rPr>
              <a:t>Normalisasi ke [−1, 1] </a:t>
            </a:r>
            <a:r>
              <a:rPr sz="1500" b="0">
                <a:solidFill>
                  <a:srgbClr val="22222E"/>
                </a:solidFill>
                <a:latin typeface="Calibri"/>
              </a:rPr>
              <a:t>dengan Normalize(0.5, 0.5) — bukan Lambda, karena worker DataLoader di Windows (spawn) harus bisa mem-pickle transform.</a:t>
            </a:r>
          </a:p>
          <a:p>
            <a:pPr marL="256032" indent="-201168">
              <a:spcAft>
                <a:spcPts val="800"/>
              </a:spcAft>
              <a:buFont typeface="Arial"/>
              <a:buChar char="•"/>
            </a:pPr>
            <a:r>
              <a:rPr sz="1500" b="1">
                <a:solidFill>
                  <a:srgbClr val="22222E"/>
                </a:solidFill>
                <a:latin typeface="Calibri"/>
              </a:rPr>
              <a:t>Unduh otomatis </a:t>
            </a:r>
            <a:r>
              <a:rPr sz="1500" b="0">
                <a:solidFill>
                  <a:srgbClr val="22222E"/>
                </a:solidFill>
                <a:latin typeface="Calibri"/>
              </a:rPr>
              <a:t>via torchvision; mode --debug memakai subset 512 gambar tetap.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25F5C"/>
                </a:solidFill>
                <a:latin typeface="Calibri"/>
              </a:rPr>
              <a:t>TRAINING (TRAINING ENGINEER)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1F3B"/>
                </a:solidFill>
                <a:latin typeface="Cambria"/>
              </a:rPr>
              <a:t>Training: stabil, terukur, dan bisa dilanjutkan</a:t>
            </a:r>
          </a:p>
        </p:txBody>
      </p:sp>
      <p:pic>
        <p:nvPicPr>
          <p:cNvPr id="4" name="Picture 3" descr="loss_cifar10_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67543"/>
            <a:ext cx="6035040" cy="34485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03720" y="1600200"/>
            <a:ext cx="47548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01168">
              <a:spcAft>
                <a:spcPts val="800"/>
              </a:spcAft>
              <a:buFont typeface="Arial"/>
              <a:buChar char="•"/>
            </a:pPr>
            <a:r>
              <a:rPr sz="1600" b="0">
                <a:solidFill>
                  <a:srgbClr val="22222E"/>
                </a:solidFill>
                <a:latin typeface="Calibri"/>
              </a:rPr>
              <a:t>AdamW lr 2e-4 + warmup, batch 128, grad clip 1,0</a:t>
            </a:r>
          </a:p>
          <a:p>
            <a:pPr marL="256032" indent="-201168">
              <a:spcAft>
                <a:spcPts val="800"/>
              </a:spcAft>
              <a:buFont typeface="Arial"/>
              <a:buChar char="•"/>
            </a:pPr>
            <a:r>
              <a:rPr sz="1600" b="0">
                <a:solidFill>
                  <a:srgbClr val="22222E"/>
                </a:solidFill>
                <a:latin typeface="Calibri"/>
              </a:rPr>
              <a:t>Mixed precision (AMP fp16): VRAM puncak 3,7 GB</a:t>
            </a:r>
          </a:p>
          <a:p>
            <a:pPr marL="256032" indent="-201168">
              <a:spcAft>
                <a:spcPts val="800"/>
              </a:spcAft>
              <a:buFont typeface="Arial"/>
              <a:buChar char="•"/>
            </a:pPr>
            <a:r>
              <a:rPr sz="1600" b="0">
                <a:solidFill>
                  <a:srgbClr val="22222E"/>
                </a:solidFill>
                <a:latin typeface="Calibri"/>
              </a:rPr>
              <a:t>EMA 0,9999 — sampel jauh lebih halus</a:t>
            </a:r>
          </a:p>
          <a:p>
            <a:pPr marL="256032" indent="-201168">
              <a:spcAft>
                <a:spcPts val="800"/>
              </a:spcAft>
              <a:buFont typeface="Arial"/>
              <a:buChar char="•"/>
            </a:pPr>
            <a:r>
              <a:rPr sz="1600" b="0">
                <a:solidFill>
                  <a:srgbClr val="22222E"/>
                </a:solidFill>
                <a:latin typeface="Calibri"/>
              </a:rPr>
              <a:t>Checkpoint atomik + --resume, log CSV &amp; TensorBoard</a:t>
            </a:r>
          </a:p>
          <a:p>
            <a:pPr marL="256032" indent="-201168">
              <a:spcAft>
                <a:spcPts val="800"/>
              </a:spcAft>
              <a:buFont typeface="Arial"/>
              <a:buChar char="•"/>
            </a:pPr>
            <a:r>
              <a:rPr sz="1600" b="0">
                <a:solidFill>
                  <a:srgbClr val="22222E"/>
                </a:solidFill>
                <a:latin typeface="Calibri"/>
              </a:rPr>
              <a:t>Tes overfit 1 batch: loss 1,0 → 0,0001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25780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F25F5C"/>
                </a:solidFill>
                <a:latin typeface="Cambria"/>
              </a:rPr>
              <a:t>0,0167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F637A"/>
                </a:solidFill>
                <a:latin typeface="Calibri"/>
              </a:rPr>
              <a:t>loss akhir MNIST (20 epoch)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525780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F25F5C"/>
                </a:solidFill>
                <a:latin typeface="Cambria"/>
              </a:rPr>
              <a:t>0,0302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603504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F637A"/>
                </a:solidFill>
                <a:latin typeface="Calibri"/>
              </a:rPr>
              <a:t>loss akhir CIFAR-10 (100 epoch)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25F5C"/>
                </a:solidFill>
                <a:latin typeface="Calibri"/>
              </a:rPr>
              <a:t>HYPERPARAMETER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1F3B"/>
                </a:solidFill>
                <a:latin typeface="Cambria"/>
              </a:rPr>
              <a:t>Eksperimen: batch kecil membantu, cosine tidak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463040"/>
          <a:ext cx="658368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498079" y="1600200"/>
            <a:ext cx="4160520" cy="1325880"/>
          </a:xfrm>
          <a:prstGeom prst="roundRect">
            <a:avLst>
              <a:gd name="adj" fmla="val 8000"/>
            </a:avLst>
          </a:prstGeom>
          <a:solidFill>
            <a:srgbClr val="F1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26679" y="173736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F25F5C"/>
                </a:solidFill>
                <a:latin typeface="Calibri"/>
              </a:rPr>
              <a:t>Batch 64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2103120"/>
            <a:ext cx="37490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22E"/>
                </a:solidFill>
                <a:latin typeface="Calibri"/>
              </a:rPr>
              <a:t>FID terbaik per epoch: 2× jumlah update, VRAM ±separuh.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3154680"/>
            <a:ext cx="4160520" cy="1325880"/>
          </a:xfrm>
          <a:prstGeom prst="roundRect">
            <a:avLst>
              <a:gd name="adj" fmla="val 8000"/>
            </a:avLst>
          </a:prstGeom>
          <a:solidFill>
            <a:srgbClr val="F1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329184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F25F5C"/>
                </a:solidFill>
                <a:latin typeface="Calibri"/>
              </a:rPr>
              <a:t>Learning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3657600"/>
            <a:ext cx="37490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22E"/>
                </a:solidFill>
                <a:latin typeface="Calibri"/>
              </a:rPr>
              <a:t>2e-4 titik tengah; loss kecil (4e-4) ≠ sampel lebih baik.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4709160"/>
            <a:ext cx="4160520" cy="1325880"/>
          </a:xfrm>
          <a:prstGeom prst="roundRect">
            <a:avLst>
              <a:gd name="adj" fmla="val 8000"/>
            </a:avLst>
          </a:prstGeom>
          <a:solidFill>
            <a:srgbClr val="F1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484632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F25F5C"/>
                </a:solidFill>
                <a:latin typeface="Calibri"/>
              </a:rPr>
              <a:t>Cosine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5212080"/>
            <a:ext cx="37490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22E"/>
                </a:solidFill>
                <a:latin typeface="Calibri"/>
              </a:rPr>
              <a:t>Terburuk di 32×32; skala loss-nya pun tidak sebanding.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25F5C"/>
                </a:solidFill>
                <a:latin typeface="Calibri"/>
              </a:rPr>
              <a:t>HASIL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1F3B"/>
                </a:solidFill>
                <a:latin typeface="Cambria"/>
              </a:rPr>
              <a:t>Kualitas naik bertahap selama training</a:t>
            </a:r>
          </a:p>
        </p:txBody>
      </p:sp>
      <p:pic>
        <p:nvPicPr>
          <p:cNvPr id="4" name="Picture 3" descr="progress_cifar10_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30275"/>
            <a:ext cx="11094415" cy="33803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7607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01168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22222E"/>
                </a:solidFill>
                <a:latin typeface="Calibri"/>
              </a:rPr>
              <a:t>Seed sampling sama di setiap epoch: bentuk kelas muncul sejak epoch 10, detail dan kontras membaik sampai epoch 100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25F5C"/>
                </a:solidFill>
                <a:latin typeface="Calibri"/>
              </a:rPr>
              <a:t>SAMPLER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1F3B"/>
                </a:solidFill>
                <a:latin typeface="Cambria"/>
              </a:rPr>
              <a:t>DDIM: kualitas setara, 10× lebih cepat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520440" cy="1600200"/>
          </a:xfrm>
          <a:prstGeom prst="roundRect">
            <a:avLst>
              <a:gd name="adj" fmla="val 8000"/>
            </a:avLst>
          </a:prstGeom>
          <a:solidFill>
            <a:srgbClr val="F1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72768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F25F5C"/>
                </a:solidFill>
                <a:latin typeface="Cambria"/>
              </a:rPr>
              <a:t>26,23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50008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F637A"/>
                </a:solidFill>
                <a:latin typeface="Calibri"/>
              </a:rPr>
              <a:t>FID DDIM-100
8,9 menit / 2.000 sampel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63040"/>
            <a:ext cx="3520440" cy="1600200"/>
          </a:xfrm>
          <a:prstGeom prst="roundRect">
            <a:avLst>
              <a:gd name="adj" fmla="val 8000"/>
            </a:avLst>
          </a:prstGeom>
          <a:solidFill>
            <a:srgbClr val="F1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572768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247BA0"/>
                </a:solidFill>
                <a:latin typeface="Cambria"/>
              </a:rPr>
              <a:t>26,64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350008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F637A"/>
                </a:solidFill>
                <a:latin typeface="Calibri"/>
              </a:rPr>
              <a:t>FID DDPM-1000
85,7 menit / 2.000 sampel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463040"/>
            <a:ext cx="3520440" cy="1600200"/>
          </a:xfrm>
          <a:prstGeom prst="roundRect">
            <a:avLst>
              <a:gd name="adj" fmla="val 8000"/>
            </a:avLst>
          </a:prstGeom>
          <a:solidFill>
            <a:srgbClr val="F1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572768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F25F5C"/>
                </a:solidFill>
                <a:latin typeface="Cambria"/>
              </a:rPr>
              <a:t>≈10×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350008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F637A"/>
                </a:solidFill>
                <a:latin typeface="Calibri"/>
              </a:rPr>
              <a:t>lebih cepat
model sama, tanpa training ulang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474720"/>
            <a:ext cx="594360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01168">
              <a:spcAft>
                <a:spcPts val="800"/>
              </a:spcAft>
              <a:buFont typeface="Arial"/>
              <a:buChar char="•"/>
            </a:pPr>
            <a:r>
              <a:rPr sz="1600" b="0">
                <a:solidFill>
                  <a:srgbClr val="22222E"/>
                </a:solidFill>
                <a:latin typeface="Calibri"/>
              </a:rPr>
              <a:t>FID 5.000 sampel × 1000 langkah DDPM ±2,3 jam per evaluasi → tidak realistis</a:t>
            </a:r>
          </a:p>
          <a:p>
            <a:pPr marL="256032" indent="-201168">
              <a:spcAft>
                <a:spcPts val="800"/>
              </a:spcAft>
              <a:buFont typeface="Arial"/>
              <a:buChar char="•"/>
            </a:pPr>
            <a:r>
              <a:rPr sz="1600" b="0">
                <a:solidFill>
                  <a:srgbClr val="22222E"/>
                </a:solidFill>
                <a:latin typeface="Calibri"/>
              </a:rPr>
              <a:t>DDIM melompati timestep (100 dari 1000) memakai model yang sama</a:t>
            </a:r>
          </a:p>
          <a:p>
            <a:pPr marL="256032" indent="-201168">
              <a:spcAft>
                <a:spcPts val="800"/>
              </a:spcAft>
              <a:buFont typeface="Arial"/>
              <a:buChar char="•"/>
            </a:pPr>
            <a:r>
              <a:rPr sz="1600" b="0">
                <a:solidFill>
                  <a:srgbClr val="22222E"/>
                </a:solidFill>
                <a:latin typeface="Calibri"/>
              </a:rPr>
              <a:t>Dibuktikan dengan test: η = 1 dan 1000 langkah → hasil identik dengan DDPM</a:t>
            </a:r>
          </a:p>
          <a:p>
            <a:pPr marL="256032" indent="-201168">
              <a:spcAft>
                <a:spcPts val="800"/>
              </a:spcAft>
              <a:buFont typeface="Arial"/>
              <a:buChar char="•"/>
            </a:pPr>
            <a:r>
              <a:rPr sz="1600" b="0">
                <a:solidFill>
                  <a:srgbClr val="22222E"/>
                </a:solidFill>
                <a:latin typeface="Calibri"/>
              </a:rPr>
              <a:t>Demo langsung: 12 gambar dalam ±2,5 detik</a:t>
            </a:r>
          </a:p>
        </p:txBody>
      </p:sp>
      <p:pic>
        <p:nvPicPr>
          <p:cNvPr id="14" name="Picture 13" descr="s2_ema_vs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3415427"/>
            <a:ext cx="4846320" cy="295322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25F5C"/>
                </a:solidFill>
                <a:latin typeface="Calibri"/>
              </a:rPr>
              <a:t>METODOLOGI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1F3B"/>
                </a:solidFill>
                <a:latin typeface="Cambria"/>
              </a:rPr>
              <a:t>Vibe coding: Claude Code dalam proses yang diaudit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8007" y="1645920"/>
            <a:ext cx="2011680" cy="1143000"/>
          </a:xfrm>
          <a:prstGeom prst="roundRect">
            <a:avLst>
              <a:gd name="adj" fmla="val 8000"/>
            </a:avLst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CLAUDE.md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system prompt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04007" y="1645920"/>
            <a:ext cx="2011680" cy="1143000"/>
          </a:xfrm>
          <a:prstGeom prst="roundRect">
            <a:avLst>
              <a:gd name="adj" fmla="val 8000"/>
            </a:avLst>
          </a:prstGeom>
          <a:solidFill>
            <a:srgbClr val="24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PLANNING.md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±80 task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90007" y="1645920"/>
            <a:ext cx="2011680" cy="1143000"/>
          </a:xfrm>
          <a:prstGeom prst="roundRect">
            <a:avLst>
              <a:gd name="adj" fmla="val 8000"/>
            </a:avLst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Task → verifikasi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→ commit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76007" y="1645920"/>
            <a:ext cx="2011680" cy="1143000"/>
          </a:xfrm>
          <a:prstGeom prst="roundRect">
            <a:avLst>
              <a:gd name="adj" fmla="val 8000"/>
            </a:avLst>
          </a:prstGeom>
          <a:solidFill>
            <a:srgbClr val="24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Audit 9 poin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0 error/bug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62007" y="1645920"/>
            <a:ext cx="2011680" cy="1143000"/>
          </a:xfrm>
          <a:prstGeom prst="roundRect">
            <a:avLst>
              <a:gd name="adj" fmla="val 8000"/>
            </a:avLst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Push → PR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→ merge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54680"/>
            <a:ext cx="3515258" cy="2468880"/>
          </a:xfrm>
          <a:prstGeom prst="roundRect">
            <a:avLst>
              <a:gd name="adj" fmla="val 8000"/>
            </a:avLst>
          </a:prstGeom>
          <a:solidFill>
            <a:srgbClr val="F1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3337560"/>
            <a:ext cx="457200" cy="457200"/>
          </a:xfrm>
          <a:prstGeom prst="ellipse">
            <a:avLst/>
          </a:prstGeom>
          <a:solidFill>
            <a:srgbClr val="F25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383280"/>
            <a:ext cx="250941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1F3B"/>
                </a:solidFill>
                <a:latin typeface="Calibri"/>
              </a:rPr>
              <a:t>Log Interaksi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77639"/>
            <a:ext cx="3058058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2222E"/>
                </a:solidFill>
                <a:latin typeface="Calibri"/>
              </a:rPr>
              <a:t>Prompt kelompok apa adanya, eror utuh, analisis &amp; solusi per fase (template dosen) + transkrip lengkap.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8218" y="3154680"/>
            <a:ext cx="3515258" cy="2468880"/>
          </a:xfrm>
          <a:prstGeom prst="roundRect">
            <a:avLst>
              <a:gd name="adj" fmla="val 8000"/>
            </a:avLst>
          </a:prstGeom>
          <a:solidFill>
            <a:srgbClr val="F1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66818" y="3337560"/>
            <a:ext cx="457200" cy="457200"/>
          </a:xfrm>
          <a:prstGeom prst="ellipse">
            <a:avLst/>
          </a:prstGeom>
          <a:solidFill>
            <a:srgbClr val="F25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1178" y="3383280"/>
            <a:ext cx="250941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1F3B"/>
                </a:solidFill>
                <a:latin typeface="Calibri"/>
              </a:rPr>
              <a:t>Audit sebelum merge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6818" y="3977639"/>
            <a:ext cx="3058058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2222E"/>
                </a:solidFill>
                <a:latin typeface="Calibri"/>
              </a:rPr>
              <a:t>ruff, pytest (semua test lolos), kriteria fase, smoke test, scope, review diff, kebersihan repo.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7796" y="3154680"/>
            <a:ext cx="3515258" cy="2468880"/>
          </a:xfrm>
          <a:prstGeom prst="roundRect">
            <a:avLst>
              <a:gd name="adj" fmla="val 8000"/>
            </a:avLst>
          </a:prstGeom>
          <a:solidFill>
            <a:srgbClr val="F1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56396" y="3337560"/>
            <a:ext cx="457200" cy="457200"/>
          </a:xfrm>
          <a:prstGeom prst="ellipse">
            <a:avLst/>
          </a:prstGeom>
          <a:solidFill>
            <a:srgbClr val="F25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50756" y="3383280"/>
            <a:ext cx="250941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1F3B"/>
                </a:solidFill>
                <a:latin typeface="Calibri"/>
              </a:rPr>
              <a:t>Contoh debugging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6396" y="3977639"/>
            <a:ext cx="3058058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2222E"/>
                </a:solidFill>
                <a:latin typeface="Calibri"/>
              </a:rPr>
              <a:t>Override 1e-4 terbaca string · Lambda tak bisa di-pickle · toleransi test salah · rantai PowerShell berhenti karena stderr.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25F5C"/>
                </a:solidFill>
                <a:latin typeface="Calibri"/>
              </a:rPr>
              <a:t>TIM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1F3B"/>
                </a:solidFill>
                <a:latin typeface="Cambria"/>
              </a:rPr>
              <a:t>Pembagian peran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5410047" cy="2148840"/>
          </a:xfrm>
          <a:prstGeom prst="roundRect">
            <a:avLst>
              <a:gd name="adj" fmla="val 8000"/>
            </a:avLst>
          </a:prstGeom>
          <a:solidFill>
            <a:srgbClr val="F1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828800"/>
            <a:ext cx="403844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B1F3B"/>
                </a:solidFill>
                <a:latin typeface="Calibri"/>
              </a:rPr>
              <a:t>Naufal Rafif Hidayat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286000"/>
            <a:ext cx="403844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25F5C"/>
                </a:solidFill>
                <a:latin typeface="Calibri"/>
              </a:rPr>
              <a:t>Prompt Engineer &amp; LLM Navigator (Ketua)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743200"/>
            <a:ext cx="403844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22E"/>
                </a:solidFill>
                <a:latin typeface="Calibri"/>
              </a:rPr>
              <a:t>CLAUDE.md, planning, arsitektur U-Net, schedule, sampling &amp; CFG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554480"/>
            <a:ext cx="5410047" cy="2148840"/>
          </a:xfrm>
          <a:prstGeom prst="roundRect">
            <a:avLst>
              <a:gd name="adj" fmla="val 8000"/>
            </a:avLst>
          </a:prstGeom>
          <a:solidFill>
            <a:srgbClr val="F1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07327" y="1828800"/>
            <a:ext cx="640080" cy="640080"/>
          </a:xfrm>
          <a:prstGeom prst="ellipse">
            <a:avLst/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76007" y="1828800"/>
            <a:ext cx="403844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B1F3B"/>
                </a:solidFill>
                <a:latin typeface="Calibri"/>
              </a:rPr>
              <a:t>Ardhian Calwa Nugraha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76007" y="2286000"/>
            <a:ext cx="403844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25F5C"/>
                </a:solidFill>
                <a:latin typeface="Calibri"/>
              </a:rPr>
              <a:t>Data Pipeline &amp; Preprocessing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76007" y="2743200"/>
            <a:ext cx="403844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22E"/>
                </a:solidFill>
                <a:latin typeface="Calibri"/>
              </a:rPr>
              <a:t>Loader MNIST &amp; CIFAR-10, normalisasi, augmentasi, cek shape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77640"/>
            <a:ext cx="5410047" cy="2148840"/>
          </a:xfrm>
          <a:prstGeom prst="roundRect">
            <a:avLst>
              <a:gd name="adj" fmla="val 8000"/>
            </a:avLst>
          </a:prstGeom>
          <a:solidFill>
            <a:srgbClr val="F1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" y="4251960"/>
            <a:ext cx="640080" cy="640080"/>
          </a:xfrm>
          <a:prstGeom prst="ellipse">
            <a:avLst/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251960"/>
            <a:ext cx="403844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B1F3B"/>
                </a:solidFill>
                <a:latin typeface="Calibri"/>
              </a:rPr>
              <a:t>Ali Hizqil Syauqani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709160"/>
            <a:ext cx="403844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25F5C"/>
                </a:solidFill>
                <a:latin typeface="Calibri"/>
              </a:rPr>
              <a:t>Training Loop &amp; Hyperparameter Tuning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5166360"/>
            <a:ext cx="403844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22E"/>
                </a:solidFill>
                <a:latin typeface="Calibri"/>
              </a:rPr>
              <a:t>Training loop, EMA, AMP, eksperimen E1–E5, FID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3977640"/>
            <a:ext cx="5410047" cy="2148840"/>
          </a:xfrm>
          <a:prstGeom prst="roundRect">
            <a:avLst>
              <a:gd name="adj" fmla="val 8000"/>
            </a:avLst>
          </a:prstGeom>
          <a:solidFill>
            <a:srgbClr val="F1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07327" y="4251960"/>
            <a:ext cx="640080" cy="640080"/>
          </a:xfrm>
          <a:prstGeom prst="ellipse">
            <a:avLst/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76007" y="4251960"/>
            <a:ext cx="403844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B1F3B"/>
                </a:solidFill>
                <a:latin typeface="Calibri"/>
              </a:rPr>
              <a:t>Muhammad Akhdan Ghifari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76007" y="4709160"/>
            <a:ext cx="403844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25F5C"/>
                </a:solidFill>
                <a:latin typeface="Calibri"/>
              </a:rPr>
              <a:t>Lead Documentarian &amp; Error Handler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6007" y="5166360"/>
            <a:ext cx="403844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22E"/>
                </a:solidFill>
                <a:latin typeface="Calibri"/>
              </a:rPr>
              <a:t>Log Interaksi, analisis eror, laporan akhir, slide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25F5C"/>
                </a:solidFill>
                <a:latin typeface="Calibri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Demo langsung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6583680" cy="2377440"/>
          </a:xfrm>
          <a:prstGeom prst="roundRect">
            <a:avLst>
              <a:gd name="adj" fmla="val 8000"/>
            </a:avLst>
          </a:prstGeom>
          <a:solidFill>
            <a:srgbClr val="2D3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621792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onsolas"/>
              </a:rPr>
              <a:t>python -m scripts.demo --kelas cat dog horse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onsolas"/>
              </a:rPr>
              <a:t>python -m scripts.demo --dataset mnist --kelas 3 7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onsolas"/>
              </a:rPr>
              <a:t>python -m scripts.demo --sampler ddpm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43400"/>
            <a:ext cx="65836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01168">
              <a:spcAft>
                <a:spcPts val="800"/>
              </a:spcAft>
              <a:buFont typeface="Arial"/>
              <a:buChar char="•"/>
            </a:pPr>
            <a:r>
              <a:rPr sz="1600" b="0">
                <a:solidFill>
                  <a:srgbClr val="DDE0F0"/>
                </a:solidFill>
                <a:latin typeface="Calibri"/>
              </a:rPr>
              <a:t>Pilih kelas dari audiens, generate dalam ±3 detik (DDIM-100, w = 2)</a:t>
            </a:r>
          </a:p>
          <a:p>
            <a:pPr marL="256032" indent="-201168">
              <a:spcAft>
                <a:spcPts val="800"/>
              </a:spcAft>
              <a:buFont typeface="Arial"/>
              <a:buChar char="•"/>
            </a:pPr>
            <a:r>
              <a:rPr sz="1600" b="0">
                <a:solidFill>
                  <a:srgbClr val="DDE0F0"/>
                </a:solidFill>
                <a:latin typeface="Calibri"/>
              </a:rPr>
              <a:t>Seed acak setiap kali: gambar selalu baru, bukan hafalan</a:t>
            </a:r>
          </a:p>
          <a:p>
            <a:pPr marL="256032" indent="-201168">
              <a:spcAft>
                <a:spcPts val="800"/>
              </a:spcAft>
              <a:buFont typeface="Arial"/>
              <a:buChar char="•"/>
            </a:pPr>
            <a:r>
              <a:rPr sz="1600" b="0">
                <a:solidFill>
                  <a:srgbClr val="DDE0F0"/>
                </a:solidFill>
                <a:latin typeface="Calibri"/>
              </a:rPr>
              <a:t>Kanan: frame akhir GIF noise → gambar (CIFAR-10 &amp; MNIST)</a:t>
            </a:r>
          </a:p>
        </p:txBody>
      </p:sp>
      <p:pic>
        <p:nvPicPr>
          <p:cNvPr id="7" name="Picture 6" descr="denoise_cifar10_l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942303"/>
            <a:ext cx="4160520" cy="1693234"/>
          </a:xfrm>
          <a:prstGeom prst="rect">
            <a:avLst/>
          </a:prstGeom>
        </p:spPr>
      </p:pic>
      <p:pic>
        <p:nvPicPr>
          <p:cNvPr id="8" name="Picture 7" descr="denoise_mnist_la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4456903"/>
            <a:ext cx="4160519" cy="169323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25F5C"/>
                </a:solidFill>
                <a:latin typeface="Calibri"/>
              </a:rPr>
              <a:t>PENUTUP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Kesimpulan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645920"/>
            <a:ext cx="548640" cy="548640"/>
          </a:xfrm>
          <a:prstGeom prst="ellipse">
            <a:avLst/>
          </a:prstGeom>
          <a:solidFill>
            <a:srgbClr val="F25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27632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DDPM from scratch berhasil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084832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CFD3EA"/>
                </a:solidFill>
                <a:latin typeface="Calibri"/>
              </a:rPr>
              <a:t>Pipeline lengkap terbukti benar di MNIST dan menghasilkan 10 kelas CIFAR-10 yang dikenali.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971800"/>
            <a:ext cx="548640" cy="548640"/>
          </a:xfrm>
          <a:prstGeom prst="ellipse">
            <a:avLst/>
          </a:prstGeom>
          <a:solidFill>
            <a:srgbClr val="F25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953512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Evaluasi kuantitatif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410712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CFD3EA"/>
                </a:solidFill>
                <a:latin typeface="Calibri"/>
              </a:rPr>
              <a:t>FID terbaik 16,43 (w = 2); lr 2e-4 &amp; schedule linear cocok; batch kecil efisien per epoch.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297680"/>
            <a:ext cx="548640" cy="548640"/>
          </a:xfrm>
          <a:prstGeom prst="ellipse">
            <a:avLst/>
          </a:prstGeom>
          <a:solidFill>
            <a:srgbClr val="F25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279392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Proses vibe coding teraudit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736592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CFD3EA"/>
                </a:solidFill>
                <a:latin typeface="Calibri"/>
              </a:rPr>
              <a:t>Branch per fase, audit 0 bug, log interaksi lengkap — kode bersih dan dapat direproduksi.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7150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AEB3D1"/>
                </a:solidFill>
                <a:latin typeface="Calibri"/>
              </a:rPr>
              <a:t>Pengembangan: model lebih besar &amp; resolusi 64×64, learned variance, dataset lokal (mis. batik).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DDPM Class-Conditional — Kelompok 11</dc:title>
  <dc:subject/>
  <dc:creator>Kelompok 11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